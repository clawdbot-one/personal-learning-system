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AI驱动个人学习辅助系统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融合刻意练习、深度工作、批判性思维等五大学习方法论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通过多Agent协同与跨学科奖励机制，打造商业化级全栈学习平台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1.0  |  2026-07-07  |  项目介绍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457200"/>
            <a:ext cx="1463040" cy="1463040"/>
          </a:xfrm>
          <a:prstGeom prst="ellipse">
            <a:avLst/>
          </a:prstGeom>
          <a:solidFill>
            <a:srgbClr val="2A4A7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474720"/>
            <a:ext cx="914400" cy="914400"/>
          </a:xfrm>
          <a:prstGeom prst="ellipse">
            <a:avLst/>
          </a:prstGeom>
          <a:solidFill>
            <a:srgbClr val="2A4A7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项目概述与核心价值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市场分析与竞争格局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产品愿景与设计理念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五大学习方法论引擎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核心功能架构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AI Agent集成方案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跨学科奖励机制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技术架构设计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开发路线图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风险评估与应对</a:t>
            </a:r>
            <a:endParaRPr lang="en-US" sz="14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项目概述与核心价值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LearnFlow 是一款面向个人学习者的AI驱动学习辅助系统，将五大经典学习方法论转化为可操作的软件功能，结合多Agent协同和跨学科奖励机制，帮助用户实现更高效、更持久、更有深度的学习。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822960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核心价值：现有学习工具大多解决单一问题，LearnFlow 首次将五大经典学习方法论整合为统一的AI驱动平台，让"知道怎么学"变成"系统帮你学"。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920240" cy="146304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在校学生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系统学习方法、备考规划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246120"/>
            <a:ext cx="1920240" cy="146304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职场学习者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持续技能提升、职业发展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1920240" cy="146304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研究者与创作者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深度知识管理、批判思维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3246120"/>
            <a:ext cx="1920240" cy="146304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08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终身学习者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个人成长、跨领域学习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市场分析与竞争格局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全球EdTech市场持续增长，AI驱动学习工具成为最大增长点。到2027年超过60%的企业将采用AI驱动的知识管理工具。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3291840"/>
        </p:xfrm>
        <a:graphic>
          <a:graphicData uri="http://schemas.openxmlformats.org/drawingml/2006/table">
            <a:tbl>
              <a:tblPr/>
              <a:tblGrid>
                <a:gridCol w="1005840"/>
                <a:gridCol w="1033272"/>
                <a:gridCol w="1033272"/>
                <a:gridCol w="1033272"/>
                <a:gridCol w="1033272"/>
                <a:gridCol w="1033272"/>
                <a:gridCol w="1033272"/>
                <a:gridCol w="10332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平台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Anki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Quizlet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Notion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Habitica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Obsidian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RemNote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★★★★☆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★★★☆☆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</a:rPr>
                        <a:t>☆☆☆☆☆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LearnFlow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★★★★★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LearnFlow 是唯一同时覆盖全部7个维度的学习平台，竞争优势在于系统性的方法论整合。</a:t>
            </a:r>
            <a:endParaRPr lang="en-US" sz="10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产品愿景与设计理念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73736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方法论驱动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每个功能源自学习科学理论，用户感受到的是AI导师而非工具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3931920" cy="173736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5156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内在动机优先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外在奖励增强而非替代内在动机，遵循自我决定理论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173736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718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Agent即导师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Agent具备教学方法论，能诊断问题、设计方案、提供反馈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3931920" cy="173736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9718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0352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数据驱动个性化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基于行为数据持续优化，每个用户的学习体验独一无二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设计原则：认知负荷最小化 | 渐进式复杂度 | 即时反馈 | 数据主权 | 隐私优先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五大学习方法论引擎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将五本经典学习方法论书籍的核心思想转化为可操作的软件引擎，每个引擎独立运行又通过统一数据层协同。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21792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6217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刻意练习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《Peak》Ericsson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心理表征 | 舒适区边缘 | 即时反馈 | 技能分解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8229600" cy="621792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30552"/>
            <a:ext cx="54864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7627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海绵阅读法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《海绵阅读法》李小墨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221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三层笔记 | 七大能力 | 四阶段进阶 | 痛点解决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8229600" cy="621792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43784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895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8620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深度工作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136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《Deep Work》Newport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93522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深度/浅层区分 | 注意力残留 | 四种策略 | 仪式感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8229600" cy="621792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5701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0273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51560" y="35753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知行转化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49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《Knowing-Doing Gap》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648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精要筛选 | 绿灯思维 | 间隔跟进 | 教授他人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70248"/>
            <a:ext cx="8229600" cy="621792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70248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31596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51560" y="42885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学会提问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562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《Asking Right Questions》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4361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淘金思维 | 11步清单 | 谬误识别 | 证据分级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协同工作流：输入（阅读+批判）→ 内化（练习+转化）→ 保护（深度工作）→ 输出（费曼+验证）→ 反馈循环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核心功能架构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智能目标设定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里程碑规划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进度追踪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概念节点提取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关系发现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可视化探索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18872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专注力管理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深度工作模式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番茄钟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干扰防护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15468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奖励与激励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积分系统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成就徽章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学习期货/期权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315468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Agent系统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学习规划师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学科导师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进度追踪者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017520"/>
            <a:ext cx="2606040" cy="1828800"/>
          </a:xfrm>
          <a:prstGeom prst="round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154680"/>
            <a:ext cx="640080" cy="64008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2648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社交学习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4206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学习小组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师徒系统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知识分享</a:t>
            </a:r>
            <a:endParaRPr lang="en-US" sz="11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AI Agent集成方案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Manager-Workers 多Agent架构，通过HiClaw的Manager Agent统一调度各专业导师Agent。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274320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学习规划师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508760" cy="777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阅读导师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海绵阅读法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03120" y="2423160"/>
            <a:ext cx="1508760" cy="777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练习导师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刻意练习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05740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9040" y="2423160"/>
            <a:ext cx="1508760" cy="777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专注导师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深度工作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05740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94960" y="2423160"/>
            <a:ext cx="1508760" cy="777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05740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40880" y="2423160"/>
            <a:ext cx="1508760" cy="777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行动导师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834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知行转化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05740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71600" y="3566160"/>
            <a:ext cx="2011680" cy="640080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进度追踪者 - 数据分析与报告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3566160"/>
            <a:ext cx="2011680" cy="640080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激励官 - 奖励发放与排行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566160"/>
            <a:ext cx="2011680" cy="640080"/>
          </a:xfrm>
          <a:prstGeom prst="round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社群管理员 - 学习小组协调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4389120"/>
            <a:ext cx="2194560" cy="50292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学习者（自然语言交互）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Agent平台选型：Hermes Agent（核心导师）| OpenClaw（跨平台助手）| HiClaw（团队协调）| LangGraph（路径编排）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跨学科奖励机制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84048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心理学维度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操作性条件反射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连续→变动比率强化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404872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50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心流触发设计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挑战-技能动态平衡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209544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552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多巴胺回路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惊喜宝箱+随机成就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014216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59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自我决定理论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自主性+胜任感+归属感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06040" cy="384048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060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社会学维度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37560" y="1600200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4592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群体标签+身份进阶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404872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450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社群学习效应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榜样+师徒+协作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209544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2552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正向竞争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排行榜+挑战赛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4014216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059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社交资本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声誉积分+专家认证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005840"/>
            <a:ext cx="2606040" cy="3840480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005840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金融学维度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80760" y="1600200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64592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代币经济学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挖矿→消耗→质押→通缩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404872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450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学习期货/期权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保证金承诺机制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209544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2552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NFT知识认证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不可转让SBT证书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4014216"/>
            <a:ext cx="2331720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059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学习ROI量化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投入产出可视化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核心原则：内在动机优先 | 社交驱动留存 | 经济模型可持续 | 个性化适配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技术架构设计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0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 | Ant Design 5 | Zustand + React Query | D3.js + React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713232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097280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反向代理 + 负载均衡 | API Gateway（认证 + 限流 + 路由）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713232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109728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74320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FastAPI | 认证服务 | 学习引擎服务 | Agent服务 | 奖励服务 | 社交服务 | 搜索服务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713232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16 | Neo4j | Redis | Elasticsearch | MinIO/S3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713232"/>
          </a:xfrm>
          <a:prstGeom prst="roundRect">
            <a:avLst/>
          </a:prstGeom>
          <a:solidFill>
            <a:srgbClr val="F8F9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97680"/>
            <a:ext cx="1097280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38912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API（GPT-4o / Claude）| Agent平台（Hermes/OpenClaw/HiClaw）| ML模型（IRT/推荐/NLP）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部署：Docker Compose（开发）→ Kubernetes（生产）→ On-Premise（企业版私有化部署）</a:t>
            </a:r>
            <a:endParaRPr lang="en-US" sz="9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数据库设计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混合数据库架构：PostgreSQL（结构化数据）+ Neo4j（知识图谱）+ Redis（缓存/排行）+ Elasticsearch（全文检索）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表名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核心字段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索引策略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用户基础信息与偏好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username, email, preferences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username/email唯一索引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learning_plans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学习计划与目标管理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user_id, target_skills, status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user_id索引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learning_sessions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学习会话详细记录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user_id, engine_type, performance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user_id+created_at复合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skill_trees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用户技能树结构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user_id, domain, nodes_json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user_id+domain唯一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knowledge_graph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概念节点与关系(Neo4j)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节点、关系、属性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节点标签+关系类型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reward_ledger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积分流水账本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user_id, type, amount, balance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user_id+created_at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achievements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成就解锁记录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user_id, badge_id, earned_at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user_id+badge_id唯一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social_groups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学习小组信息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id, name, leader_id, member_count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leader_id索引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开发路线图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98755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3566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9202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 2026.07-09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基础架构与核心引擎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项目脚手架搭建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用户认证系统(JWT+OAuth2)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学习计划管理CRUD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刻意练习引擎MVP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深度工作模式MVP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基础仪表盘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98755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1280160"/>
            <a:ext cx="1920240" cy="3566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280160"/>
            <a:ext cx="19202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 2026.10-12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157276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Agent与知识图谱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LangChain Agent集成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Hermes/OpenClaw对接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知识图谱引擎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337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海绵阅读法引擎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批判性思维引擎MVP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知行转化引擎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98755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1280160"/>
            <a:ext cx="1920240" cy="3566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280160"/>
            <a:ext cx="19202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 2027.01-03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157276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奖励系统与社交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跨学科奖励系统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学习期货/期权机制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社交学习功能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337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NFT知识认证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学习ROI仪表盘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移动端适配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98080" y="98755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629400" y="1280160"/>
            <a:ext cx="1920240" cy="35661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1280160"/>
            <a:ext cx="19202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  2027.04-06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157276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商业化与优化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1965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订阅支付系统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6656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Team/Enterprise版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性能优化与压测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0" y="3337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安全审计与渗透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3794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私有化部署方案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66560" y="4251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公测与迭代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里程碑：M1 Alpha(2026.09) → M2 Beta(2026.12) → M3 RC(2027.03) → M4 GA(2027.06)</a:t>
            </a:r>
            <a:endParaRPr lang="en-US" sz="10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风险评估与应对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91440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类别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风险描述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应对策略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技术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Agent响应延迟/稳定性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多模型冗余 + 请求队列 + 超时重试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技术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Neo4j知识图谱性能瓶颈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节点限制 + 分层加载 + 读写分离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产品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功能过于复杂导致用户流失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渐进式解锁 + 新手引导 + A/B测试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产品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外在动机替代内在动机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SDT理论设计 + 纯净模式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市场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大厂推出类似产品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方法论差异化 + 社区壁垒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用户数据隐私合规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GDPR合规 + 端到端加密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成本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LLM API调用成本过高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中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本地模型备选 + 请求缓存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LearnFlow —— 让"知道怎么学"变成"系统帮你学"</a:t>
            </a:r>
            <a:endParaRPr lang="en-US" sz="14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AI驱动个人学习辅助系统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让"知道怎么学"变成"系统帮你学"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感谢审阅  |  期待合作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 1.0  |  2026-07-07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2A4A7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3200400"/>
            <a:ext cx="1097280" cy="1097280"/>
          </a:xfrm>
          <a:prstGeom prst="ellipse">
            <a:avLst/>
          </a:prstGeom>
          <a:solidFill>
            <a:srgbClr val="2A4A7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2026-07-07T07:42:31Z</dcterms:created>
  <dcterms:modified xsi:type="dcterms:W3CDTF">2026-07-07T07:42:31Z</dcterms:modified>
</cp:coreProperties>
</file>